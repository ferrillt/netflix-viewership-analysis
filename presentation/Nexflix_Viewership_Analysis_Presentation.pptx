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270" r:id="rId4"/>
    <p:sldId id="271" r:id="rId5"/>
    <p:sldId id="289" r:id="rId6"/>
    <p:sldId id="290" r:id="rId7"/>
    <p:sldId id="272" r:id="rId8"/>
    <p:sldId id="287" r:id="rId9"/>
    <p:sldId id="273" r:id="rId10"/>
    <p:sldId id="274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5" autoAdjust="0"/>
    <p:restoredTop sz="93808" autoAdjust="0"/>
  </p:normalViewPr>
  <p:slideViewPr>
    <p:cSldViewPr snapToGrid="0">
      <p:cViewPr varScale="1">
        <p:scale>
          <a:sx n="65" d="100"/>
          <a:sy n="65" d="100"/>
        </p:scale>
        <p:origin x="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615A5-ECDE-4D82-B9B1-FDC0E5B771E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E10B0-E9D9-49C6-8963-372D1604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analysis looks at how Netflix titles perform globally and across countries.</a:t>
            </a:r>
          </a:p>
          <a:p>
            <a:endParaRPr lang="en-US" dirty="0"/>
          </a:p>
          <a:p>
            <a:r>
              <a:rPr lang="en-US" dirty="0"/>
              <a:t>The Goal is to identify where Netflix should focus investment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8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021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6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09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BD3A-9EE1-D0DD-6577-8AEBE4BB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61C0-6447-9ED1-0AAA-700268C2F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45909-5258-3D5E-9DBD-F0128372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BCB4-4877-F976-5D1A-0489B9389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7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2005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ADE7-B67B-C00E-789E-C3603C90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3C851-EE80-E679-A2C6-AF192FD81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FD1FB-A5DA-2A59-7EFC-79A07CBF5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9D740-7A90-EC67-86FB-066599161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330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78CA-B5C6-63CE-B5D3-F613402F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F8C38-A42A-36B3-BE1F-774A3B780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5F4D5-DB46-EAA1-EC5B-7BACE8465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5706-1A1F-D737-D9B2-68575452D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7172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259D-5BCD-AFCF-6292-81F7806E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A935E-6249-06C3-5065-DBCD6CB8A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4170B-B306-47C8-7D6C-2186611A0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1BA6E-C8B3-3751-6E8D-3EC603A73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864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6F6B-E439-D18A-4D12-89744A86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FDD15-0481-E6A1-23FB-BA4C188CD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C9C60-DE11-A076-FFFC-9EC37F156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2B146-6547-36BB-22C1-A9D95B28A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501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E043-CD36-FA35-2BF4-2943DBDD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6E797-B4B6-08A9-D86D-1B2FA8B6A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F70A0-A685-2012-A2D9-E73657A7D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9E6EE-158F-EA49-F999-D1E64C262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9688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04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0EEE-9DA1-63AD-7466-C8E043DB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9BAF-1A84-3C53-15ED-9F83FAE6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3ED29-759E-9AE4-9A51-75292360B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5F00-4876-3324-00FB-B0B80CF0E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57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EC9F5-7A3F-E486-633D-5F0F1137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5CC5A-A91A-C5A2-9DF3-FA57FADA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81B1B-7F72-9D3D-A4DA-F9046660E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10604-224C-405F-B84D-ABE2A469A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E10B0-E9D9-49C6-8963-372D160459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88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F267-0EB7-06C4-C669-59EE952F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88965-0197-1B32-405E-0E5774E0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0816F-1EA6-805D-027B-6A76CAFD0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D35A2-8E48-100D-565B-869DE124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909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6FA4-B9C2-422E-FB80-FE6D410B9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DF0E6-B108-4230-30D1-EF7D7F05B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B6992-D6CC-88E6-C28D-FAEC0DB4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C631-76D7-F21C-1FCD-C0DCEC56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47514-0B9A-53DA-71BE-6B3B641F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22A9-CC45-00D9-EA92-DBA43531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7647-D8FF-D765-0C5B-3CAE8FBB7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E9E0-FA39-ADE0-922B-70667B32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20307-C625-E9D9-153A-CD1B3471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825C-FE91-9BC6-A8AC-B4F4CF35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2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E40B-E73B-D098-F7BD-1ECD612E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6A7F3-806C-8CB1-666C-7EC7E1AB7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C6D69-A42A-EA67-AA92-13CC0FAF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15F34-83F5-C826-EFF7-36DFCF4B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5510E-96AD-14D1-CC99-5F32FA87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0D9D-53B3-A0F4-878D-6D0189E8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5E2D-FBCE-A8A1-DE3C-31FE4F35A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F9317-A79D-4B4C-A447-CFC00C290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8395F-C272-1268-3E64-E4D7D9A6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DED99-B8D6-3BE8-6392-CD724C30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82772-5425-3435-95C3-63886C82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C9A3-D49A-3E11-5144-15EF8777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7596E-F4A5-4E15-A729-E1767AC37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CB878-85AA-523A-421C-708DA45D4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C6ADD-87D2-05DF-9F4F-ABDE4E829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0CD33-C389-947F-F442-3F14ADB86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A5E0C-A212-4C97-A38A-38C7471B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DE10E-60EF-24FE-79C4-2EBD67BA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DA9D9-7D74-CA2F-82F0-F0841DD1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0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DEBC-9E32-6C06-A4E3-13C45227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E43C-16A5-61DA-1E16-04BC1BE9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2DDCA-29A9-36B7-A41D-40A06198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56A65-052A-9C80-C156-4AEB2F96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6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304A0-A923-CAD3-E2A5-A4360661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C1C27-B2A6-CB04-4373-C860855E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D359C-4C49-B63D-FD54-24AE39FE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5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DE12-94F0-FA2E-8477-C80CBFB4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CE29-7498-D9D2-DFA2-FB8913DB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3913E-017E-4BDF-EE86-D62FC7906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F04EC-8EB8-A022-311E-91D6A0AB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9B33E-DD3E-289F-F127-933B9EE6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23049-DDE5-8A17-EEB3-7B77FA28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7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80DE-24AB-BF56-6434-64EFB422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8E01-8A1A-D974-C6F2-1447C4006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7579D-A653-4100-A221-46ACD4AB9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BE781-2F0D-77CF-4EAE-689AC150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5A1CE-24AA-2BE7-63F3-7F01C8D1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8C2DD-1C2A-173E-EE5A-10E5DE59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7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1DB5-858D-3141-B9E5-6EBACB19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8104D-E190-5E24-1E67-469B980B9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B0F9-2EEB-042D-7A7C-6D12AFC8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4002-0A39-1915-1304-6C4C2BCC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AB2E-0023-667B-B0E8-B9E92162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EA1FA-D0AC-F0E0-8055-5F9B0C015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1E06A-356B-523A-B30C-45ED16281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4C52-6827-7FF1-5C43-D30200B8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4F0DF-8A91-169A-A24F-DD43D795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B0DF-AF3B-3EE6-1F82-BB641DB6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98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2B9795-92DC-40DC-A1CA-9A4B349D7824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>
                    <a:lumMod val="7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9/12/2026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14843">
                    <a:lumMod val="7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514843">
                  <a:lumMod val="7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63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7323B-B6BA-DCD4-E1AA-EC5BF103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E7F4-2149-2DF4-2E18-EDFE29324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C430-4E72-E8E2-0489-9E87738EB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8F5EC-9457-4081-BA83-1A88B6A3A08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F4A6-79BB-F197-0723-B492643F2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E238E-6E6B-1901-E4B8-7E45E3D47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7ACCA-2F09-453A-9BCF-D5FF42A09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14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72D346-0994-BF81-BF06-80F820595D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97894"/>
            <a:ext cx="12192001" cy="686521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13C6935-E4A0-E6D7-D42E-72B000B1D193}"/>
              </a:ext>
            </a:extLst>
          </p:cNvPr>
          <p:cNvGrpSpPr/>
          <p:nvPr/>
        </p:nvGrpSpPr>
        <p:grpSpPr>
          <a:xfrm>
            <a:off x="592302" y="2235200"/>
            <a:ext cx="11092026" cy="3517900"/>
            <a:chOff x="612669" y="2235200"/>
            <a:chExt cx="10417281" cy="35179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1CF47E-98F2-3F70-4D2C-16D9A85FBB40}"/>
                </a:ext>
              </a:extLst>
            </p:cNvPr>
            <p:cNvSpPr/>
            <p:nvPr/>
          </p:nvSpPr>
          <p:spPr>
            <a:xfrm>
              <a:off x="612669" y="2235200"/>
              <a:ext cx="10337800" cy="35179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1CDEA5-E70B-15EF-8835-4EB2EF1FBFA6}"/>
                </a:ext>
              </a:extLst>
            </p:cNvPr>
            <p:cNvSpPr txBox="1"/>
            <p:nvPr/>
          </p:nvSpPr>
          <p:spPr>
            <a:xfrm>
              <a:off x="1162050" y="4800600"/>
              <a:ext cx="98679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Teresa Ferrill</a:t>
              </a:r>
            </a:p>
            <a:p>
              <a:r>
                <a:rPr lang="en-US" sz="1600" b="1" dirty="0">
                  <a:solidFill>
                    <a:schemeClr val="bg1"/>
                  </a:solidFill>
                </a:rPr>
                <a:t>Netflix Viewership Analysis</a:t>
              </a:r>
            </a:p>
            <a:p>
              <a:r>
                <a:rPr lang="en-US" sz="1600" b="1" dirty="0">
                  <a:solidFill>
                    <a:schemeClr val="bg1"/>
                  </a:solidFill>
                </a:rPr>
                <a:t>March 29, 2026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8E38D5-BA0C-220F-35C2-B71D89DE329A}"/>
                </a:ext>
              </a:extLst>
            </p:cNvPr>
            <p:cNvGrpSpPr/>
            <p:nvPr/>
          </p:nvGrpSpPr>
          <p:grpSpPr>
            <a:xfrm>
              <a:off x="727867" y="2403577"/>
              <a:ext cx="10023257" cy="2001579"/>
              <a:chOff x="394492" y="2261683"/>
              <a:chExt cx="10023257" cy="2001579"/>
            </a:xfrm>
          </p:grpSpPr>
          <p:pic>
            <p:nvPicPr>
              <p:cNvPr id="12" name="Picture 4" descr="Netflix TechBlog">
                <a:extLst>
                  <a:ext uri="{FF2B5EF4-FFF2-40B4-BE49-F238E27FC236}">
                    <a16:creationId xmlns:a16="http://schemas.microsoft.com/office/drawing/2014/main" id="{D4B6B1CE-6CDD-3440-BD1B-A3AE71A39D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492" y="2261683"/>
                <a:ext cx="1147572" cy="20015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ABBD0B-6EF8-0420-FFA1-0C3CDE7B7D05}"/>
                  </a:ext>
                </a:extLst>
              </p:cNvPr>
              <p:cNvSpPr txBox="1"/>
              <p:nvPr/>
            </p:nvSpPr>
            <p:spPr>
              <a:xfrm>
                <a:off x="1542063" y="2785419"/>
                <a:ext cx="8875686" cy="144655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</a:rPr>
                  <a:t>Driving Global Growth Through Content Strategy</a:t>
                </a:r>
              </a:p>
              <a:p>
                <a:r>
                  <a:rPr lang="en-US" sz="2400" b="1" i="1" dirty="0">
                    <a:solidFill>
                      <a:schemeClr val="bg1"/>
                    </a:solidFill>
                  </a:rPr>
                  <a:t>Netflix Top 10 Viewership Analysis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65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Define the Story</a:t>
            </a:r>
          </a:p>
          <a:p>
            <a:pPr lvl="1"/>
            <a:r>
              <a:rPr lang="en-US" dirty="0"/>
              <a:t>Call to Action</a:t>
            </a:r>
          </a:p>
          <a:p>
            <a:pPr lvl="1"/>
            <a:r>
              <a:rPr lang="en-US" dirty="0"/>
              <a:t>Overview of Data Used</a:t>
            </a:r>
          </a:p>
          <a:p>
            <a:r>
              <a:rPr lang="en-US" dirty="0"/>
              <a:t>Design Approach</a:t>
            </a:r>
          </a:p>
          <a:p>
            <a:pPr lvl="1"/>
            <a:r>
              <a:rPr lang="en-US" dirty="0"/>
              <a:t>Visuals</a:t>
            </a:r>
          </a:p>
          <a:p>
            <a:r>
              <a:rPr lang="en-US" dirty="0"/>
              <a:t>Key Findings</a:t>
            </a:r>
          </a:p>
          <a:p>
            <a:r>
              <a:rPr lang="en-US" dirty="0"/>
              <a:t>Limitations</a:t>
            </a:r>
          </a:p>
          <a:p>
            <a:r>
              <a:rPr lang="en-US" dirty="0"/>
              <a:t>Ethical Considerations 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9755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7666">
        <p:fade/>
      </p:transition>
    </mc:Choice>
    <mc:Fallback xmlns="">
      <p:transition spd="med" advTm="2766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C361-AF66-C6CE-0003-216E131C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0BDF-E541-19A2-E729-85FD9E46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Analyze Netflix Top 10 performance across global and country datasets</a:t>
            </a:r>
          </a:p>
          <a:p>
            <a:r>
              <a:rPr lang="en-US" sz="2400" dirty="0"/>
              <a:t>Identify patterns in global engagement</a:t>
            </a:r>
          </a:p>
          <a:p>
            <a:r>
              <a:rPr lang="en-US" sz="2400" dirty="0"/>
              <a:t>Focus on cross-market content performance</a:t>
            </a:r>
          </a:p>
          <a:p>
            <a:r>
              <a:rPr lang="en-US" sz="2400" dirty="0"/>
              <a:t>Support data-driven content investment decisions (</a:t>
            </a:r>
            <a:r>
              <a:rPr lang="en-US" sz="2400" dirty="0" err="1"/>
              <a:t>Knaflic</a:t>
            </a:r>
            <a:r>
              <a:rPr lang="en-US" sz="2400" dirty="0"/>
              <a:t>, 2015)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66D2D-E711-0F96-2BE1-F293AFD30D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06442" y="4940134"/>
            <a:ext cx="4239492" cy="123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116">
        <p:fade/>
      </p:transition>
    </mc:Choice>
    <mc:Fallback xmlns="">
      <p:transition spd="med" advTm="4411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B0B3-D247-D613-D2CD-B28D7F1F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2736-9487-7B2C-3335-4A12E272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Story</a:t>
            </a:r>
          </a:p>
          <a:p>
            <a:pPr lvl="1"/>
            <a:r>
              <a:rPr lang="en-US" sz="2200" dirty="0"/>
              <a:t>Global audiences are driving Netflix success</a:t>
            </a:r>
          </a:p>
          <a:p>
            <a:pPr lvl="1"/>
            <a:r>
              <a:rPr lang="en-US" sz="2200" dirty="0"/>
              <a:t>Cross-country titles consistently outperform</a:t>
            </a:r>
          </a:p>
          <a:p>
            <a:r>
              <a:rPr lang="en-US" sz="2400" dirty="0"/>
              <a:t>Audience</a:t>
            </a:r>
          </a:p>
          <a:p>
            <a:pPr lvl="1"/>
            <a:r>
              <a:rPr lang="en-US" sz="2200" dirty="0"/>
              <a:t>Netflix Content Executives</a:t>
            </a:r>
          </a:p>
          <a:p>
            <a:pPr lvl="1"/>
            <a:r>
              <a:rPr lang="en-US" sz="2200" dirty="0"/>
              <a:t>Focused on high-level insights, not technical detail</a:t>
            </a:r>
          </a:p>
          <a:p>
            <a:r>
              <a:rPr lang="en-US" sz="2400" dirty="0"/>
              <a:t>Purpose</a:t>
            </a:r>
          </a:p>
          <a:p>
            <a:pPr lvl="1"/>
            <a:r>
              <a:rPr lang="en-US" sz="2200" dirty="0"/>
              <a:t>Identify content that drives global growth</a:t>
            </a:r>
          </a:p>
          <a:p>
            <a:pPr lvl="1"/>
            <a:r>
              <a:rPr lang="en-US" sz="2200" dirty="0"/>
              <a:t>Recommend where to invest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A7F17-D395-0313-2C82-297DB7FA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6" t="15834" r="16414" b="16833"/>
          <a:stretch>
            <a:fillRect/>
          </a:stretch>
        </p:blipFill>
        <p:spPr>
          <a:xfrm>
            <a:off x="8544910" y="3429000"/>
            <a:ext cx="271166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9C3C2-A581-C90D-B403-2DA5F502E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829" y="3886200"/>
            <a:ext cx="3167667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22DC1-2BF9-B5DD-D62F-32425594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CA6B-FABE-4D02-2E6C-646C18D04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Invest in Globally Scalable Content</a:t>
            </a:r>
          </a:p>
          <a:p>
            <a:pPr lvl="1"/>
            <a:r>
              <a:rPr lang="en-US" sz="2200" dirty="0"/>
              <a:t>Prioritize titles with cross-country performance</a:t>
            </a:r>
          </a:p>
          <a:p>
            <a:pPr lvl="1"/>
            <a:r>
              <a:rPr lang="en-US" sz="2200" dirty="0"/>
              <a:t>Expand marketing for global top performers</a:t>
            </a:r>
          </a:p>
          <a:p>
            <a:pPr lvl="1"/>
            <a:r>
              <a:rPr lang="en-US" sz="2200" dirty="0"/>
              <a:t>Focus development on broadly appealing content</a:t>
            </a:r>
          </a:p>
          <a:p>
            <a:r>
              <a:rPr lang="en-US" sz="2400" dirty="0"/>
              <a:t>Key question:</a:t>
            </a:r>
          </a:p>
          <a:p>
            <a:pPr lvl="1"/>
            <a:r>
              <a:rPr lang="en-US" sz="2200" i="1" dirty="0"/>
              <a:t>Where should Netflix invest to maximize global growth?</a:t>
            </a:r>
          </a:p>
        </p:txBody>
      </p:sp>
    </p:spTree>
    <p:extLst>
      <p:ext uri="{BB962C8B-B14F-4D97-AF65-F5344CB8AC3E}">
        <p14:creationId xmlns:p14="http://schemas.microsoft.com/office/powerpoint/2010/main" val="7398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2B4F-1E46-7FD9-918C-CB651AEF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 Used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936E2A-E838-B36B-9BE3-3ABDDF58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199"/>
            <a:ext cx="10309334" cy="4910959"/>
          </a:xfrm>
        </p:spPr>
        <p:txBody>
          <a:bodyPr>
            <a:normAutofit/>
          </a:bodyPr>
          <a:lstStyle/>
          <a:p>
            <a:r>
              <a:rPr lang="en-US" sz="2400" dirty="0"/>
              <a:t>Data Sourced from Netflix Top 10 site</a:t>
            </a:r>
          </a:p>
          <a:p>
            <a:pPr lvl="1"/>
            <a:r>
              <a:rPr lang="en-US" sz="2200" dirty="0"/>
              <a:t>Global Top 10 performance trends</a:t>
            </a:r>
          </a:p>
          <a:p>
            <a:pPr lvl="1"/>
            <a:r>
              <a:rPr lang="en-US" sz="2200" dirty="0"/>
              <a:t>Country-level viewing patterns</a:t>
            </a:r>
          </a:p>
          <a:p>
            <a:pPr lvl="1"/>
            <a:r>
              <a:rPr lang="en-US" sz="2200" dirty="0"/>
              <a:t>Most popular titles by total viewership</a:t>
            </a:r>
          </a:p>
          <a:p>
            <a:pPr lvl="1"/>
            <a:r>
              <a:rPr lang="en-US" sz="2200" dirty="0"/>
              <a:t>Combined to identify scalable content opportunities</a:t>
            </a:r>
          </a:p>
          <a:p>
            <a:r>
              <a:rPr lang="en-US" sz="2400" dirty="0"/>
              <a:t>Uses three Netflix Datasets:</a:t>
            </a:r>
          </a:p>
          <a:p>
            <a:pPr lvl="1"/>
            <a:r>
              <a:rPr lang="en-US" sz="2200" dirty="0"/>
              <a:t>All Weeks Countries</a:t>
            </a:r>
          </a:p>
          <a:p>
            <a:pPr lvl="1"/>
            <a:r>
              <a:rPr lang="en-US" sz="2200" dirty="0"/>
              <a:t>All Weeks Global </a:t>
            </a:r>
            <a:endParaRPr lang="en-US" dirty="0"/>
          </a:p>
          <a:p>
            <a:pPr lvl="1"/>
            <a:r>
              <a:rPr lang="en-US" sz="2200" dirty="0"/>
              <a:t>Most Popular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DB22C-8CAD-9858-4DF2-85D97AA0D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551" y="3713424"/>
            <a:ext cx="3253032" cy="267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007">
        <p:fade/>
      </p:transition>
    </mc:Choice>
    <mc:Fallback xmlns="">
      <p:transition spd="med" advTm="4200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E007-0806-A7FC-131C-28266ABB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691C9-0ACD-CB08-2146-384A78176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78156" y="3607131"/>
            <a:ext cx="4119254" cy="274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EF097-7B08-4679-A568-A9F7EE07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Approach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E31455-AA18-C2C0-36E7-69EAFAEF3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8532883" cy="45720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Color: High contrast to highlight key insights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Text: Minimal, focused on key takeaways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Layout: consistent alignment across slides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Spacing: Clean design to reduce cognitive load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67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007">
        <p:fade/>
      </p:transition>
    </mc:Choice>
    <mc:Fallback xmlns="">
      <p:transition spd="med" advTm="42007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1 – Global Engagement Over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FFE63-6BBE-66EC-D505-76769B8B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4666711" cy="4572000"/>
          </a:xfrm>
        </p:spPr>
        <p:txBody>
          <a:bodyPr>
            <a:normAutofit/>
          </a:bodyPr>
          <a:lstStyle/>
          <a:p>
            <a:r>
              <a:rPr lang="en-US" dirty="0"/>
              <a:t>Engagement trends vary over time across global Top 10</a:t>
            </a:r>
          </a:p>
          <a:p>
            <a:r>
              <a:rPr lang="en-US" dirty="0"/>
              <a:t>Sustained presence indicates stronger audience interest</a:t>
            </a:r>
          </a:p>
          <a:p>
            <a:r>
              <a:rPr lang="en-US" dirty="0"/>
              <a:t>Early data may reflect incomplete reporting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2B46-5084-AEC1-1AD4-0202BA772B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1380" y="1666349"/>
            <a:ext cx="5784124" cy="3347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9210E-B528-FC04-A619-960559275E2F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 engagement trends provide a high-level view of performance over time (Cairo, 2016)</a:t>
            </a:r>
          </a:p>
        </p:txBody>
      </p:sp>
    </p:spTree>
    <p:extLst>
      <p:ext uri="{BB962C8B-B14F-4D97-AF65-F5344CB8AC3E}">
        <p14:creationId xmlns:p14="http://schemas.microsoft.com/office/powerpoint/2010/main" val="374937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966">
        <p:fade/>
      </p:transition>
    </mc:Choice>
    <mc:Fallback xmlns="">
      <p:transition spd="med" advTm="4496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4FEB83-6117-2CBC-5D30-137844DC17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6741" y="1600199"/>
            <a:ext cx="6637757" cy="38389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2 – Top Title by Longevity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505328" cy="4572000"/>
          </a:xfrm>
        </p:spPr>
        <p:txBody>
          <a:bodyPr>
            <a:normAutofit/>
          </a:bodyPr>
          <a:lstStyle/>
          <a:p>
            <a:r>
              <a:rPr lang="en-US" dirty="0"/>
              <a:t>Longer Top 10 duration reflects sustained engagement </a:t>
            </a:r>
          </a:p>
          <a:p>
            <a:r>
              <a:rPr lang="en-US" dirty="0"/>
              <a:t>Consistent performers outperform short-term spikes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4B649-058D-FF9E-8B01-94B6A2D7DF96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Sustained Top 10 presence reflects long-term audience engagement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78330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EC51-0F37-1079-AABB-6537618E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78305-F7CF-4EDB-627F-9108A3F9D9C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37716" y="1600199"/>
            <a:ext cx="6695252" cy="3874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3D779C-6685-DFAD-528E-5D6CE669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3 – Country-Level Activity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BA01-D987-3F45-0877-80E4D0B4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405251" cy="4572000"/>
          </a:xfrm>
        </p:spPr>
        <p:txBody>
          <a:bodyPr>
            <a:normAutofit/>
          </a:bodyPr>
          <a:lstStyle/>
          <a:p>
            <a:r>
              <a:rPr lang="en-US" dirty="0"/>
              <a:t>Country activity varies, but patterns reflect dataset coverage</a:t>
            </a:r>
          </a:p>
          <a:p>
            <a:r>
              <a:rPr lang="en-US" dirty="0"/>
              <a:t>Similar counts suggest equal observation periods</a:t>
            </a:r>
            <a:endParaRPr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7F30C-F1C4-AEC5-3943-9DFBB216268E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Country-level activity highlights differences in market engagement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046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717C-29AC-7A1D-9FFE-8B438698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83DB9-2365-E91D-1E2F-7ADA2A083C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1920" y="1600199"/>
            <a:ext cx="6570283" cy="3803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B313A9-C9DC-C5C2-C011-0806D9BA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4 – Titles Across Countries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BE0A-41B6-6FC9-31D9-B668EF2BC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508343" cy="4572000"/>
          </a:xfrm>
        </p:spPr>
        <p:txBody>
          <a:bodyPr/>
          <a:lstStyle/>
          <a:p>
            <a:r>
              <a:rPr lang="en-US" dirty="0"/>
              <a:t>Titles appearing in multiple countries perform more consistently</a:t>
            </a:r>
          </a:p>
          <a:p>
            <a:r>
              <a:rPr lang="en-US" dirty="0"/>
              <a:t>Cross-country reach signals strong global appeal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46696-40E0-02A9-8040-B292BFF2AA5F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Titles with cross-country reach consistently outperform others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7306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6EE4-4372-2B9E-9652-EA14F0E7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69AA-00F0-BD5D-8875-03D82DFF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5 – Category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851E-C5CA-BF8E-297B-A8A86BEB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744107" cy="5052848"/>
          </a:xfrm>
        </p:spPr>
        <p:txBody>
          <a:bodyPr>
            <a:normAutofit/>
          </a:bodyPr>
          <a:lstStyle/>
          <a:p>
            <a:r>
              <a:rPr lang="en-US" dirty="0"/>
              <a:t>Films and TV both contribute to engagement</a:t>
            </a:r>
          </a:p>
          <a:p>
            <a:r>
              <a:rPr lang="en-US" dirty="0"/>
              <a:t>Differences in total viewing highlight investment opportunities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ACABE-D079-441E-F775-1BE1D23CE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804" y="1600643"/>
            <a:ext cx="6140397" cy="355324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59436-7200-9AC8-39AC-4626491069C7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Content format differences can guide future investment decisions (Kuhn &amp; Johnson, 2019)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15479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CDD3-73CC-05CC-1A95-63A4C5FD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7C18-773F-5084-E8EA-967780FB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6 – Most Popular Titles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7FF1-332C-AE3F-CC31-9B7E0A38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lang="en-US" dirty="0"/>
              <a:t>High viewership does not always translate to long-term success</a:t>
            </a:r>
          </a:p>
          <a:p>
            <a:r>
              <a:rPr lang="en-US" dirty="0"/>
              <a:t>Short-term popularity differs from sustained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90D5F-58A4-A154-BDD0-5245CD930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5772" y="1600642"/>
            <a:ext cx="6576430" cy="3805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C533E8-112B-A660-5647-7890419D0EF9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Peak popularity does not always indicate sustained success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244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BFA1-9ACD-80AA-2565-A5CB6173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F79D-2BCE-15E5-8294-5953000B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7 – Cross-Market Overlap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67B5E-FFBF-FFB0-1F43-B76643113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600200"/>
            <a:ext cx="4262746" cy="4572000"/>
          </a:xfrm>
        </p:spPr>
        <p:txBody>
          <a:bodyPr>
            <a:normAutofit/>
          </a:bodyPr>
          <a:lstStyle/>
          <a:p>
            <a:r>
              <a:rPr lang="en-US" dirty="0"/>
              <a:t>Titles successful across markets are the strongest performers</a:t>
            </a:r>
          </a:p>
          <a:p>
            <a:r>
              <a:rPr lang="en-US" dirty="0"/>
              <a:t>Cross-market overlap identifies top investment candidates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C002D-CDD9-0E70-E4F9-22466C7296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1368" y="1600643"/>
            <a:ext cx="6550833" cy="3790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A58B1B-5563-2AB3-6731-82941A4DB108}"/>
              </a:ext>
            </a:extLst>
          </p:cNvPr>
          <p:cNvSpPr txBox="1"/>
          <p:nvPr/>
        </p:nvSpPr>
        <p:spPr>
          <a:xfrm>
            <a:off x="610259" y="6172200"/>
            <a:ext cx="1096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Cross-market performance is the strongest indicator of content success (</a:t>
            </a:r>
            <a:r>
              <a:rPr lang="en-US" b="1" dirty="0" err="1"/>
              <a:t>Knaflic</a:t>
            </a:r>
            <a:r>
              <a:rPr lang="en-US" b="1" dirty="0"/>
              <a:t>, 2015)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02837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0CDF-E3E1-91DE-6D03-BFAC79BE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79C4-4BD6-7A3E-0C12-F00B74BD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Cross-market performance is the strongest predictor of sustained success</a:t>
            </a:r>
          </a:p>
          <a:p>
            <a:r>
              <a:rPr lang="en-US" sz="2400" dirty="0"/>
              <a:t>Sustained Top 10 presence matters</a:t>
            </a:r>
          </a:p>
          <a:p>
            <a:r>
              <a:rPr lang="en-US" sz="2400" dirty="0"/>
              <a:t>Global reach supports growth</a:t>
            </a:r>
          </a:p>
          <a:p>
            <a:r>
              <a:rPr lang="en-US" sz="2400" dirty="0"/>
              <a:t>Short-term popularity is not enough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7696-5B28-D982-B544-E752B8560C09}"/>
              </a:ext>
            </a:extLst>
          </p:cNvPr>
          <p:cNvSpPr txBox="1"/>
          <p:nvPr/>
        </p:nvSpPr>
        <p:spPr>
          <a:xfrm>
            <a:off x="166255" y="6172200"/>
            <a:ext cx="11859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 reach and sustained performance matter more than short-term popularity (Cairo, 2016)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6845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9427-DC3C-E341-1F84-6A5FBF48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CC82-1455-B6A1-4088-008E475B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8328-98C0-EB5C-5E03-EE5943F4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Country comparisons may reflect data coverage</a:t>
            </a:r>
          </a:p>
          <a:p>
            <a:r>
              <a:rPr lang="en-US" sz="2400" dirty="0"/>
              <a:t>Top 10 duration does not capture full engagement</a:t>
            </a:r>
          </a:p>
          <a:p>
            <a:r>
              <a:rPr lang="en-US" sz="2400" dirty="0"/>
              <a:t>Results require contextual interpretation (Cairo, 2016)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183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3617-9CED-572F-C458-7B1DF802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F3AA-68E5-5DE2-2108-A11F0DAC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9206-3906-7D96-D11C-12369C15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sourced from publicly available Netflix Top 10 datasets </a:t>
            </a:r>
          </a:p>
          <a:p>
            <a:r>
              <a:rPr lang="en-US" sz="2400" dirty="0"/>
              <a:t>No personal or sensitive data used – no privacy concerns</a:t>
            </a:r>
          </a:p>
          <a:p>
            <a:r>
              <a:rPr lang="en-US" sz="2400" dirty="0"/>
              <a:t>Data Cleaned (standardized titles, numeric conversion)</a:t>
            </a:r>
          </a:p>
          <a:p>
            <a:r>
              <a:rPr lang="en-US" sz="2400" dirty="0"/>
              <a:t>Aggregated data may mask regional differences</a:t>
            </a:r>
          </a:p>
          <a:p>
            <a:r>
              <a:rPr lang="en-US" sz="2400" dirty="0"/>
              <a:t>Assumptions made (e.g., weeks in Top 10 = engagement)</a:t>
            </a:r>
          </a:p>
          <a:p>
            <a:r>
              <a:rPr lang="en-US" sz="2400" dirty="0"/>
              <a:t>Visuals designed to avoid misleading conclusions</a:t>
            </a:r>
          </a:p>
        </p:txBody>
      </p:sp>
    </p:spTree>
    <p:extLst>
      <p:ext uri="{BB962C8B-B14F-4D97-AF65-F5344CB8AC3E}">
        <p14:creationId xmlns:p14="http://schemas.microsoft.com/office/powerpoint/2010/main" val="10041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1890-DD8F-0407-A00A-66BA9AD7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EE15-7378-DE7A-1F3B-DEB75B2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79B1-DD23-BEF6-2671-FCD9CECCE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Global and sustained performance matter most</a:t>
            </a:r>
          </a:p>
          <a:p>
            <a:r>
              <a:rPr lang="en-US" sz="2400" dirty="0"/>
              <a:t>Focus on cross-market</a:t>
            </a:r>
          </a:p>
          <a:p>
            <a:r>
              <a:rPr lang="en-US" sz="2400" dirty="0"/>
              <a:t>Prioritize scalable titles</a:t>
            </a:r>
          </a:p>
          <a:p>
            <a:r>
              <a:rPr lang="en-US" sz="2400" dirty="0"/>
              <a:t>Use data to guide strategy</a:t>
            </a:r>
          </a:p>
          <a:p>
            <a:r>
              <a:rPr lang="en-US" sz="2400" dirty="0"/>
              <a:t>Future work – incorporate additional engagement metrics (Kuhn &amp; Johnson, 2019)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4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3560">
        <p:fade/>
      </p:transition>
    </mc:Choice>
    <mc:Fallback xmlns="">
      <p:transition spd="med" advTm="5356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96D2-191A-D1C5-9155-22547E10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D746-8F94-65ED-BBC6-90B1E4F1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Cairo, A. (2016). </a:t>
            </a:r>
            <a:r>
              <a:rPr lang="en-US" i="1" dirty="0"/>
              <a:t>The truthful art: Data, charts, and maps for communication.</a:t>
            </a:r>
            <a:r>
              <a:rPr lang="en-US" dirty="0"/>
              <a:t> New Riders. </a:t>
            </a:r>
          </a:p>
          <a:p>
            <a:r>
              <a:rPr lang="en-US" dirty="0" err="1"/>
              <a:t>Knaflic</a:t>
            </a:r>
            <a:r>
              <a:rPr lang="en-US" dirty="0"/>
              <a:t>, C. N. (2015). </a:t>
            </a:r>
            <a:r>
              <a:rPr lang="en-US" i="1" dirty="0"/>
              <a:t>Storytelling with data. </a:t>
            </a:r>
            <a:r>
              <a:rPr lang="en-US" dirty="0"/>
              <a:t>Hoboken: John Wiley &amp; Sons.</a:t>
            </a:r>
          </a:p>
          <a:p>
            <a:r>
              <a:rPr lang="en-US" dirty="0"/>
              <a:t>Kuhn, M., &amp; Johnson, K. (2019). Feature engineering and selection: A practical approach for predictive models. CRC Press. </a:t>
            </a:r>
          </a:p>
        </p:txBody>
      </p:sp>
    </p:spTree>
    <p:extLst>
      <p:ext uri="{BB962C8B-B14F-4D97-AF65-F5344CB8AC3E}">
        <p14:creationId xmlns:p14="http://schemas.microsoft.com/office/powerpoint/2010/main" val="340152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427">
        <p:fade/>
      </p:transition>
    </mc:Choice>
    <mc:Fallback xmlns="">
      <p:transition spd="med" advTm="5427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712</Words>
  <Application>Microsoft Office PowerPoint</Application>
  <PresentationFormat>Widescreen</PresentationFormat>
  <Paragraphs>122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Euphemia</vt:lpstr>
      <vt:lpstr>Plantagenet Cherokee</vt:lpstr>
      <vt:lpstr>Wingdings</vt:lpstr>
      <vt:lpstr>Office Theme</vt:lpstr>
      <vt:lpstr>Academic Literature 16x9</vt:lpstr>
      <vt:lpstr>PowerPoint Presentation</vt:lpstr>
      <vt:lpstr>Contents</vt:lpstr>
      <vt:lpstr>Introduction</vt:lpstr>
      <vt:lpstr>Define the Story</vt:lpstr>
      <vt:lpstr>Call to Action</vt:lpstr>
      <vt:lpstr>Overview of Data Used</vt:lpstr>
      <vt:lpstr>Design Approach</vt:lpstr>
      <vt:lpstr>Visual 1 – Global Engagement Over Time</vt:lpstr>
      <vt:lpstr>Visual 2 – Top Title by Longevity</vt:lpstr>
      <vt:lpstr>Visual 3 – Country-Level Activity</vt:lpstr>
      <vt:lpstr>Visual 4 – Titles Across Countries</vt:lpstr>
      <vt:lpstr>Visual 5 – Category Performance</vt:lpstr>
      <vt:lpstr>Visual 6 – Most Popular Titles</vt:lpstr>
      <vt:lpstr>Visual 7 – Cross-Market Overlap</vt:lpstr>
      <vt:lpstr>Key Findings</vt:lpstr>
      <vt:lpstr>Limitations</vt:lpstr>
      <vt:lpstr>Ethical Considerations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26</cp:revision>
  <dcterms:created xsi:type="dcterms:W3CDTF">2026-03-23T19:08:01Z</dcterms:created>
  <dcterms:modified xsi:type="dcterms:W3CDTF">2026-09-13T04:46:02Z</dcterms:modified>
</cp:coreProperties>
</file>