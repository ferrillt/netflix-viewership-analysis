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22"/>
  </p:notesMasterIdLst>
  <p:sldIdLst>
    <p:sldId id="257" r:id="rId3"/>
    <p:sldId id="270" r:id="rId4"/>
    <p:sldId id="271" r:id="rId5"/>
    <p:sldId id="289" r:id="rId6"/>
    <p:sldId id="290" r:id="rId7"/>
    <p:sldId id="272" r:id="rId8"/>
    <p:sldId id="287" r:id="rId9"/>
    <p:sldId id="273" r:id="rId10"/>
    <p:sldId id="274" r:id="rId11"/>
    <p:sldId id="280" r:id="rId12"/>
    <p:sldId id="281" r:id="rId13"/>
    <p:sldId id="282" r:id="rId14"/>
    <p:sldId id="283" r:id="rId15"/>
    <p:sldId id="284" r:id="rId16"/>
    <p:sldId id="285" r:id="rId17"/>
    <p:sldId id="286" r:id="rId18"/>
    <p:sldId id="288" r:id="rId19"/>
    <p:sldId id="278" r:id="rId20"/>
    <p:sldId id="279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415" autoAdjust="0"/>
    <p:restoredTop sz="93808" autoAdjust="0"/>
  </p:normalViewPr>
  <p:slideViewPr>
    <p:cSldViewPr snapToGrid="0">
      <p:cViewPr varScale="1">
        <p:scale>
          <a:sx n="74" d="100"/>
          <a:sy n="74" d="100"/>
        </p:scale>
        <p:origin x="8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tableStyles" Target="tableStyle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5615A5-ECDE-4D82-B9B1-FDC0E5B771E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57E10B0-E9D9-49C6-8963-372D160459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50133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analysis looks at how Netflix titles perform globally and across countries.</a:t>
            </a:r>
          </a:p>
          <a:p>
            <a:endParaRPr lang="en-US" dirty="0"/>
          </a:p>
          <a:p>
            <a:r>
              <a:rPr lang="en-US" dirty="0"/>
              <a:t>The Goal is to identify where Netflix should focus investment for growth.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7E10B0-E9D9-49C6-8963-372D1604595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97816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A3C37BE-C303-496D-B5CD-85F2937540FC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514843"/>
                </a:solidFill>
                <a:effectLst/>
                <a:uLnTx/>
                <a:uFillTx/>
                <a:latin typeface="Euphemia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514843"/>
              </a:solidFill>
              <a:effectLst/>
              <a:uLnTx/>
              <a:uFillTx/>
              <a:latin typeface="Euphemia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530217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7E10B0-E9D9-49C6-8963-372D16045951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23362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7E10B0-E9D9-49C6-8963-372D16045951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550934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45BD3A-9EE1-D0DD-6577-8AEBE4BBD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3A61C0-6447-9ED1-0AAA-700268C2F4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845909-5258-3D5E-9DBD-F0128372D9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5CBCB4-4877-F976-5D1A-0489B93894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7E10B0-E9D9-49C6-8963-372D16045951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887727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7E10B0-E9D9-49C6-8963-372D1604595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47395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39200510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2ADE7-B67B-C00E-789E-C3603C90F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33C851-EE80-E679-A2C6-AF192FD81EE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1FD1FB-A5DA-2A59-7EFC-79A07CBF591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E9D740-7A90-EC67-86FB-0665991612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66633092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2F78CA-B5C6-63CE-B5D3-F613402FCB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2F8C38-A42A-36B3-BE1F-774A3B780B1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B5F4D5-DB46-EAA1-EC5B-7BACE846563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545706-1A1F-D737-D9B2-68575452D8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57717294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61259D-5BCD-AFCF-6292-81F7806E84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8A935E-6249-06C3-5065-DBCD6CB8ADD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94170B-B306-47C8-7D6C-2186611A03E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11BA6E-C8B3-3751-6E8D-3EC603A735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8886477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8E6F6B-E439-D18A-4D12-89744A8657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8FDD15-0481-E6A1-23FB-BA4C188CD1E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2C9C60-DE11-A076-FFFC-9EC37F1566B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D2B146-6547-36BB-22C1-A9D95B28AD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7501169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24E043-CD36-FA35-2BF4-2943DBDD4D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F6E797-B4B6-08A9-D86D-1B2FA8B6A5A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CF70A0-A685-2012-A2D9-E73657A7D71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09E6EE-158F-EA49-F999-D1E64C2624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01968868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7E10B0-E9D9-49C6-8963-372D16045951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030463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6E0EEE-9DA1-63AD-7466-C8E043DB64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129BAF-1A84-3C53-15ED-9F83FAE6EB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13ED29-759E-9AE4-9A51-75292360BE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BE5F00-4876-3324-00FB-B0B80CF0E2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7E10B0-E9D9-49C6-8963-372D16045951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865775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9EC9F5-7A3F-E486-633D-5F0F11378E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65CC5A-A91A-C5A2-9DF3-FA57FADA01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781B1B-7F72-9D3D-A4DA-F9046660ED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110604-224C-405F-B84D-ABE2A469AE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7E10B0-E9D9-49C6-8963-372D16045951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808843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C2F267-0EB7-06C4-C669-59EE952F1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D88965-0197-1B32-405E-0E5774E02F6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70816F-1EA6-805D-027B-6A76CAFD0A9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9D35A2-8E48-100D-565B-869DE1240D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0290907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0B6FA4-B9C2-422E-FB80-FE6D410B9A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7FDF0E6-B108-4230-30D1-EF7D7F05B3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B6992-D6CC-88E6-C28D-FAEC0DB40F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8F5EC-9457-4081-BA83-1A88B6A3A08E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5EC631-76D7-F21C-1FCD-C0DCEC5669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A47514-0B9A-53DA-71BE-6B3B641FFD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27ACCA-2F09-453A-9BCF-D5FF42A098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64241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BF22A9-CC45-00D9-EA92-DBA43531F2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137647-D8FF-D765-0C5B-3CAE8FBB77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D0E9E0-FA39-ADE0-922B-70667B32AE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8F5EC-9457-4081-BA83-1A88B6A3A08E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020307-C625-E9D9-153A-CD1B347101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BC825C-FE91-9BC6-A8AC-B4F4CF3566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27ACCA-2F09-453A-9BCF-D5FF42A098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34291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90E40B-E73B-D098-F7BD-1ECD612EAA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F6A7F3-806C-8CB1-666C-7EC7E1AB7A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8C6D69-A42A-EA67-AA92-13CC0FAFB4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8F5EC-9457-4081-BA83-1A88B6A3A08E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215F34-83F5-C826-EFF7-36DFCF4BD8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25510E-96AD-14D1-CC99-5F32FA87AE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27ACCA-2F09-453A-9BCF-D5FF42A098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4372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B50D9D-53B3-A0F4-878D-6D0189E863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D75E2D-FBCE-A8A1-DE3C-31FE4F35A6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BF9317-A79D-4B4C-A447-CFC00C2909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58395F-C272-1268-3E64-E4D7D9A62B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8F5EC-9457-4081-BA83-1A88B6A3A08E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2DED99-B8D6-3BE8-6392-CD724C30F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C82772-5425-3435-95C3-63886C82AB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27ACCA-2F09-453A-9BCF-D5FF42A098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65699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79C9A3-D49A-3E11-5144-15EF8777EA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A7596E-F4A5-4E15-A729-E1767AC379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ACB878-85AA-523A-421C-708DA45D4A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3EC6ADD-87D2-05DF-9F4F-ABDE4E8292E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B10CD33-C389-947F-F442-3F14ADB862A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30A5E0C-A212-4C97-A38A-38C7471BD4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8F5EC-9457-4081-BA83-1A88B6A3A08E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23DE10E-60EF-24FE-79C4-2EBD67BA84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24DA9D9-7D74-CA2F-82F0-F0841DD10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27ACCA-2F09-453A-9BCF-D5FF42A098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42002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2CDEBC-9E32-6C06-A4E3-13C4522755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FD9E43C-16A5-61DA-1E16-04BC1BE94C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8F5EC-9457-4081-BA83-1A88B6A3A08E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832DDCA-29A9-36B7-A41D-40A0619828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E56A65-052A-9C80-C156-4AEB2F9694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27ACCA-2F09-453A-9BCF-D5FF42A098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6698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47304A0-A923-CAD3-E2A5-A436066119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8F5EC-9457-4081-BA83-1A88B6A3A08E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14C1C27-B2A6-CB04-4373-C860855E79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ED359C-4C49-B63D-FD54-24AE39FEC0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27ACCA-2F09-453A-9BCF-D5FF42A098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28512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D4DE12-94F0-FA2E-8477-C80CBFB48F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83CE29-7498-D9D2-DFA2-FB8913DB46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D3913E-017E-4BDF-EE86-D62FC7906E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9F04EC-8EB8-A022-311E-91D6A0AB9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8F5EC-9457-4081-BA83-1A88B6A3A08E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39B33E-DD3E-289F-F127-933B9EE693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423049-DDE5-8A17-EEB3-7B77FA289A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27ACCA-2F09-453A-9BCF-D5FF42A098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6720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6C80DE-24AB-BF56-6434-64EFB42209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A0E8E01-8A1A-D974-C6F2-1447C4006A8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57579D-A653-4100-A221-46ACD4AB9C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9BE781-2F0D-77CF-4EAE-689AC15000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8F5EC-9457-4081-BA83-1A88B6A3A08E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D5A1CE-24AA-2BE7-63F3-7F01C8D165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58C2DD-1C2A-173E-EE5A-10E5DE59AB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27ACCA-2F09-453A-9BCF-D5FF42A098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79762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61DB5-858D-3141-B9E5-6EBACB1976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328104D-E190-5E24-1E67-469B980B94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76B0F9-2EEB-042D-7A7C-6D12AFC85D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8F5EC-9457-4081-BA83-1A88B6A3A08E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574002-0A39-1915-1304-6C4C2BCC49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67AB2E-0023-667B-B0E8-B9E92162A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27ACCA-2F09-453A-9BCF-D5FF42A098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00446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CCEA1FA-D0AC-F0E0-8055-5F9B0C01512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EC1E06A-356B-523A-B30C-45ED16281F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544C52-6827-7FF1-5C43-D30200B899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8F5EC-9457-4081-BA83-1A88B6A3A08E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D4F0DF-8A91-169A-A24F-DD43D795D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18B0DF-AF3B-3EE6-1F82-BB641DB6BD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27ACCA-2F09-453A-9BCF-D5FF42A098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659830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02B9795-92DC-40DC-A1CA-9A4B349D7824}" type="datetimeFigureOut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514843">
                    <a:lumMod val="75000"/>
                  </a:srgbClr>
                </a:solidFill>
                <a:effectLst/>
                <a:uLnTx/>
                <a:uFillTx/>
                <a:latin typeface="Euphemia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9/13/2026</a:t>
            </a:fld>
            <a:endParaRPr kumimoji="0" sz="1200" b="0" i="0" u="none" strike="noStrike" kern="1200" cap="none" spc="0" normalizeH="0" baseline="0" noProof="0">
              <a:ln>
                <a:noFill/>
              </a:ln>
              <a:solidFill>
                <a:srgbClr val="514843">
                  <a:lumMod val="75000"/>
                </a:srgbClr>
              </a:solidFill>
              <a:effectLst/>
              <a:uLnTx/>
              <a:uFillTx/>
              <a:latin typeface="Euphemia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>
              <a:ln>
                <a:noFill/>
              </a:ln>
              <a:solidFill>
                <a:srgbClr val="514843">
                  <a:lumMod val="75000"/>
                </a:srgbClr>
              </a:solidFill>
              <a:effectLst/>
              <a:uLnTx/>
              <a:uFillTx/>
              <a:latin typeface="Euphemia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FF54DE5-C571-48E8-A5BC-B369434E2F44}" type="slidenum"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514843">
                    <a:lumMod val="75000"/>
                  </a:srgbClr>
                </a:solidFill>
                <a:effectLst/>
                <a:uLnTx/>
                <a:uFillTx/>
                <a:latin typeface="Euphemia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sz="1200" b="0" i="0" u="none" strike="noStrike" kern="1200" cap="none" spc="0" normalizeH="0" baseline="0" noProof="0">
              <a:ln>
                <a:noFill/>
              </a:ln>
              <a:solidFill>
                <a:srgbClr val="514843">
                  <a:lumMod val="75000"/>
                </a:srgbClr>
              </a:solidFill>
              <a:effectLst/>
              <a:uLnTx/>
              <a:uFillTx/>
              <a:latin typeface="Euphemia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986393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5B7323B-B6BA-DCD4-E1AA-EC5BF10315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0BE7F4-2149-2DF4-2E18-EDFE293245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EFC430-4E72-E8E2-0489-9E87738EBA2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328F5EC-9457-4081-BA83-1A88B6A3A08E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D0F4A6-79BB-F197-0723-B492643F230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5E238E-6E6B-1901-E4B8-7E45E3D4740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27ACCA-2F09-453A-9BCF-D5FF42A098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90179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04900" y="76200"/>
            <a:ext cx="9980682" cy="1096962"/>
          </a:xfrm>
          <a:prstGeom prst="rect">
            <a:avLst/>
          </a:prstGeom>
        </p:spPr>
        <p:txBody>
          <a:bodyPr vert="horz" lIns="0" tIns="45720" rIns="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4900" y="1600200"/>
            <a:ext cx="9982200" cy="457200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04899" y="6356351"/>
            <a:ext cx="1829559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200" baseline="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402B9795-92DC-40DC-A1CA-9A4B349D7824}" type="datetimeFigureOut">
              <a:rPr lang="en-US" smtClean="0"/>
              <a:pPr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34459" y="6356350"/>
            <a:ext cx="6323082" cy="365126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ctr">
              <a:defRPr sz="1200" baseline="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256782" y="6356351"/>
            <a:ext cx="1828800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aseline="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0FF54DE5-C571-48E8-A5BC-B369434E2F44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15" name="Group 14"/>
          <p:cNvGrpSpPr/>
          <p:nvPr/>
        </p:nvGrpSpPr>
        <p:grpSpPr>
          <a:xfrm>
            <a:off x="1103376" y="1219201"/>
            <a:ext cx="9985248" cy="84403"/>
            <a:chOff x="1073150" y="1219201"/>
            <a:chExt cx="10058400" cy="63125"/>
          </a:xfrm>
        </p:grpSpPr>
        <p:cxnSp>
          <p:nvCxnSpPr>
            <p:cNvPr id="13" name="Straight Connector 12"/>
            <p:cNvCxnSpPr/>
            <p:nvPr/>
          </p:nvCxnSpPr>
          <p:spPr>
            <a:xfrm rot="10800000">
              <a:off x="1073150" y="1219201"/>
              <a:ext cx="10058400" cy="0"/>
            </a:xfrm>
            <a:prstGeom prst="line">
              <a:avLst/>
            </a:prstGeom>
            <a:ln w="381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/>
            <p:cNvCxnSpPr/>
            <p:nvPr/>
          </p:nvCxnSpPr>
          <p:spPr>
            <a:xfrm rot="10800000">
              <a:off x="1073150" y="1282326"/>
              <a:ext cx="10058400" cy="0"/>
            </a:xfrm>
            <a:prstGeom prst="line">
              <a:avLst/>
            </a:prstGeom>
            <a:ln w="127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114912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800"/>
        </a:spcBef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600"/>
        </a:spcBef>
        <a:buFont typeface="Wingdings" panose="05000000000000000000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696">
          <p15:clr>
            <a:srgbClr val="F26B43"/>
          </p15:clr>
        </p15:guide>
        <p15:guide id="2" pos="6984">
          <p15:clr>
            <a:srgbClr val="F26B43"/>
          </p15:clr>
        </p15:guide>
        <p15:guide id="3" orient="horz" pos="1008">
          <p15:clr>
            <a:srgbClr val="F26B43"/>
          </p15:clr>
        </p15:guide>
        <p15:guide id="4" orient="horz" pos="388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172D346-0994-BF81-BF06-80F820595DF6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alphaModFix amt="7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0" y="-197894"/>
            <a:ext cx="12192001" cy="6865216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813C6935-E4A0-E6D7-D42E-72B000B1D193}"/>
              </a:ext>
            </a:extLst>
          </p:cNvPr>
          <p:cNvGrpSpPr/>
          <p:nvPr/>
        </p:nvGrpSpPr>
        <p:grpSpPr>
          <a:xfrm>
            <a:off x="592302" y="2235200"/>
            <a:ext cx="11092026" cy="3517900"/>
            <a:chOff x="612669" y="2235200"/>
            <a:chExt cx="10417281" cy="351790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F1CF47E-98F2-3F70-4D2C-16D9A85FBB40}"/>
                </a:ext>
              </a:extLst>
            </p:cNvPr>
            <p:cNvSpPr/>
            <p:nvPr/>
          </p:nvSpPr>
          <p:spPr>
            <a:xfrm>
              <a:off x="612669" y="2235200"/>
              <a:ext cx="10337800" cy="35179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61CDEA5-E70B-15EF-8835-4EB2EF1FBFA6}"/>
                </a:ext>
              </a:extLst>
            </p:cNvPr>
            <p:cNvSpPr txBox="1"/>
            <p:nvPr/>
          </p:nvSpPr>
          <p:spPr>
            <a:xfrm>
              <a:off x="1162050" y="4800600"/>
              <a:ext cx="986790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</a:rPr>
                <a:t>Teresa Ferrill</a:t>
              </a:r>
            </a:p>
            <a:p>
              <a:r>
                <a:rPr lang="en-US" sz="1600" b="1" dirty="0">
                  <a:solidFill>
                    <a:schemeClr val="bg1"/>
                  </a:solidFill>
                </a:rPr>
                <a:t>Netflix Viewership Analysis</a:t>
              </a:r>
            </a:p>
            <a:p>
              <a:r>
                <a:rPr lang="en-US" sz="1600" b="1" dirty="0">
                  <a:solidFill>
                    <a:schemeClr val="bg1"/>
                  </a:solidFill>
                </a:rPr>
                <a:t>March 29, 2026</a:t>
              </a:r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CF8E38D5-BA0C-220F-35C2-B71D89DE329A}"/>
                </a:ext>
              </a:extLst>
            </p:cNvPr>
            <p:cNvGrpSpPr/>
            <p:nvPr/>
          </p:nvGrpSpPr>
          <p:grpSpPr>
            <a:xfrm>
              <a:off x="727867" y="2403577"/>
              <a:ext cx="10023257" cy="2001579"/>
              <a:chOff x="394492" y="2261683"/>
              <a:chExt cx="10023257" cy="2001579"/>
            </a:xfrm>
          </p:grpSpPr>
          <p:pic>
            <p:nvPicPr>
              <p:cNvPr id="12" name="Picture 4" descr="Netflix TechBlog">
                <a:extLst>
                  <a:ext uri="{FF2B5EF4-FFF2-40B4-BE49-F238E27FC236}">
                    <a16:creationId xmlns:a16="http://schemas.microsoft.com/office/drawing/2014/main" id="{D4B6B1CE-6CDD-3440-BD1B-A3AE71A39D1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94492" y="2261683"/>
                <a:ext cx="1147572" cy="20015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6ABBD0B-6EF8-0420-FFA1-0C3CDE7B7D05}"/>
                  </a:ext>
                </a:extLst>
              </p:cNvPr>
              <p:cNvSpPr txBox="1"/>
              <p:nvPr/>
            </p:nvSpPr>
            <p:spPr>
              <a:xfrm>
                <a:off x="1542063" y="2785419"/>
                <a:ext cx="8875686" cy="1446550"/>
              </a:xfrm>
              <a:prstGeom prst="rect">
                <a:avLst/>
              </a:prstGeom>
              <a:solidFill>
                <a:srgbClr val="C00000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en-US" sz="3200" b="1" dirty="0">
                    <a:solidFill>
                      <a:schemeClr val="bg1"/>
                    </a:solidFill>
                  </a:rPr>
                  <a:t>Driving Global Growth Through Content Strategy</a:t>
                </a:r>
              </a:p>
              <a:p>
                <a:r>
                  <a:rPr lang="en-US" sz="2400" b="1" i="1" dirty="0">
                    <a:solidFill>
                      <a:schemeClr val="bg1"/>
                    </a:solidFill>
                  </a:rPr>
                  <a:t>Netflix Top 10 Viewership Analysis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4126532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Contents</a:t>
            </a:r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Introduction</a:t>
            </a:r>
          </a:p>
          <a:p>
            <a:pPr lvl="1"/>
            <a:r>
              <a:rPr lang="en-US" dirty="0"/>
              <a:t>Define the Story</a:t>
            </a:r>
          </a:p>
          <a:p>
            <a:pPr lvl="1"/>
            <a:r>
              <a:rPr lang="en-US" dirty="0"/>
              <a:t>Call to Action</a:t>
            </a:r>
          </a:p>
          <a:p>
            <a:pPr lvl="1"/>
            <a:r>
              <a:rPr lang="en-US" dirty="0"/>
              <a:t>Overview of Data Used</a:t>
            </a:r>
          </a:p>
          <a:p>
            <a:r>
              <a:rPr lang="en-US" dirty="0"/>
              <a:t>Design Approach</a:t>
            </a:r>
          </a:p>
          <a:p>
            <a:pPr lvl="1"/>
            <a:r>
              <a:rPr lang="en-US" dirty="0"/>
              <a:t>Visuals</a:t>
            </a:r>
          </a:p>
          <a:p>
            <a:r>
              <a:rPr lang="en-US" dirty="0"/>
              <a:t>Key Findings</a:t>
            </a:r>
          </a:p>
          <a:p>
            <a:r>
              <a:rPr lang="en-US" dirty="0"/>
              <a:t>Limitations</a:t>
            </a:r>
          </a:p>
          <a:p>
            <a:r>
              <a:rPr lang="en-US" dirty="0"/>
              <a:t>Ethical Considerations </a:t>
            </a:r>
          </a:p>
          <a:p>
            <a:r>
              <a:rPr lang="en-US" dirty="0"/>
              <a:t>Conclusions</a:t>
            </a:r>
          </a:p>
          <a:p>
            <a:r>
              <a:rPr lang="en-US" dirty="0"/>
              <a:t>References</a:t>
            </a:r>
          </a:p>
        </p:txBody>
      </p:sp>
    </p:spTree>
    <p:extLst>
      <p:ext uri="{BB962C8B-B14F-4D97-AF65-F5344CB8AC3E}">
        <p14:creationId xmlns:p14="http://schemas.microsoft.com/office/powerpoint/2010/main" val="4975585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7666">
        <p:fade/>
      </p:transition>
    </mc:Choice>
    <mc:Fallback xmlns="">
      <p:transition spd="med" advTm="27666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19C361-AF66-C6CE-0003-216E131CF6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310BDF-E541-19A2-E729-85FD9E46DC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Analyze Netflix Top 10 performance across global and country datasets</a:t>
            </a:r>
          </a:p>
          <a:p>
            <a:r>
              <a:rPr lang="en-US" sz="2400" dirty="0"/>
              <a:t>Identify patterns in global engagement</a:t>
            </a:r>
          </a:p>
          <a:p>
            <a:r>
              <a:rPr lang="en-US" sz="2400" dirty="0"/>
              <a:t>Focus on cross-market content performance</a:t>
            </a:r>
          </a:p>
          <a:p>
            <a:r>
              <a:rPr lang="en-US" sz="2400" dirty="0"/>
              <a:t>Support data-driven content investment decisions (</a:t>
            </a:r>
            <a:r>
              <a:rPr lang="en-US" sz="2400" dirty="0" err="1"/>
              <a:t>Knaflic</a:t>
            </a:r>
            <a:r>
              <a:rPr lang="en-US" sz="2400" dirty="0"/>
              <a:t>, 2015)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E466D2D-E711-0F96-2BE1-F293AFD30D79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006442" y="4940134"/>
            <a:ext cx="4239492" cy="1232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3260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44116">
        <p:fade/>
      </p:transition>
    </mc:Choice>
    <mc:Fallback xmlns="">
      <p:transition spd="med" advTm="44116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40B0B3-D247-D613-D2CD-B28D7F1FCB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Define the Story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622736-9487-7B2C-3335-4A12E272A2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Story</a:t>
            </a:r>
          </a:p>
          <a:p>
            <a:pPr lvl="1"/>
            <a:r>
              <a:rPr lang="en-US" sz="2200" dirty="0"/>
              <a:t>Global audiences are driving Netflix success</a:t>
            </a:r>
          </a:p>
          <a:p>
            <a:pPr lvl="1"/>
            <a:r>
              <a:rPr lang="en-US" sz="2200" dirty="0"/>
              <a:t>Cross-country titles consistently outperform</a:t>
            </a:r>
          </a:p>
          <a:p>
            <a:r>
              <a:rPr lang="en-US" sz="2400" dirty="0"/>
              <a:t>Audience</a:t>
            </a:r>
          </a:p>
          <a:p>
            <a:pPr lvl="1"/>
            <a:r>
              <a:rPr lang="en-US" sz="2200" dirty="0"/>
              <a:t>Netflix Content Executives</a:t>
            </a:r>
          </a:p>
          <a:p>
            <a:pPr lvl="1"/>
            <a:r>
              <a:rPr lang="en-US" sz="2200" dirty="0"/>
              <a:t>Focused on high-level insights, not technical detail</a:t>
            </a:r>
          </a:p>
          <a:p>
            <a:r>
              <a:rPr lang="en-US" sz="2400" dirty="0"/>
              <a:t>Purpose</a:t>
            </a:r>
          </a:p>
          <a:p>
            <a:pPr lvl="1"/>
            <a:r>
              <a:rPr lang="en-US" sz="2200" dirty="0"/>
              <a:t>Identify content that drives global growth</a:t>
            </a:r>
          </a:p>
          <a:p>
            <a:pPr lvl="1"/>
            <a:r>
              <a:rPr lang="en-US" sz="2200" dirty="0"/>
              <a:t>Recommend where to invest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DDA7F17-D395-0313-2C82-297DB7FAA4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026" t="15834" r="16414" b="16833"/>
          <a:stretch>
            <a:fillRect/>
          </a:stretch>
        </p:blipFill>
        <p:spPr>
          <a:xfrm>
            <a:off x="8544910" y="3429000"/>
            <a:ext cx="2711669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44078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409C3C2-A581-C90D-B403-2DA5F502EC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2829" y="3886200"/>
            <a:ext cx="3167667" cy="2286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A22DC1-2BF9-B5DD-D62F-32425594DC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Call to Action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F4CA6B-FABE-4D02-2E6C-646C18D043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Invest in Globally Scalable Content</a:t>
            </a:r>
          </a:p>
          <a:p>
            <a:pPr lvl="1"/>
            <a:r>
              <a:rPr lang="en-US" sz="2200" dirty="0"/>
              <a:t>Prioritize titles with cross-country performance</a:t>
            </a:r>
          </a:p>
          <a:p>
            <a:pPr lvl="1"/>
            <a:r>
              <a:rPr lang="en-US" sz="2200" dirty="0"/>
              <a:t>Expand marketing for global top performers</a:t>
            </a:r>
          </a:p>
          <a:p>
            <a:pPr lvl="1"/>
            <a:r>
              <a:rPr lang="en-US" sz="2200" dirty="0"/>
              <a:t>Focus development on broadly appealing content</a:t>
            </a:r>
          </a:p>
          <a:p>
            <a:r>
              <a:rPr lang="en-US" sz="2400" dirty="0"/>
              <a:t>Key question:</a:t>
            </a:r>
          </a:p>
          <a:p>
            <a:pPr lvl="1"/>
            <a:r>
              <a:rPr lang="en-US" sz="2200" i="1" dirty="0"/>
              <a:t>Where should Netflix invest to maximize global growth?</a:t>
            </a:r>
          </a:p>
        </p:txBody>
      </p:sp>
    </p:spTree>
    <p:extLst>
      <p:ext uri="{BB962C8B-B14F-4D97-AF65-F5344CB8AC3E}">
        <p14:creationId xmlns:p14="http://schemas.microsoft.com/office/powerpoint/2010/main" val="7398657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7F2B4F-1E46-7FD9-918C-CB651AEFB7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 of Data Used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F0936E2A-E838-B36B-9BE3-3ABDDF5825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4900" y="1600199"/>
            <a:ext cx="10309334" cy="4910959"/>
          </a:xfrm>
        </p:spPr>
        <p:txBody>
          <a:bodyPr>
            <a:normAutofit/>
          </a:bodyPr>
          <a:lstStyle/>
          <a:p>
            <a:r>
              <a:rPr lang="en-US" sz="2400" dirty="0"/>
              <a:t>Data Sourced from Netflix Top 10 site</a:t>
            </a:r>
          </a:p>
          <a:p>
            <a:pPr lvl="1"/>
            <a:r>
              <a:rPr lang="en-US" sz="2200" dirty="0"/>
              <a:t>Global Top 10 performance trends</a:t>
            </a:r>
          </a:p>
          <a:p>
            <a:pPr lvl="1"/>
            <a:r>
              <a:rPr lang="en-US" sz="2200" dirty="0"/>
              <a:t>Country-level viewing patterns</a:t>
            </a:r>
          </a:p>
          <a:p>
            <a:pPr lvl="1"/>
            <a:r>
              <a:rPr lang="en-US" sz="2200" dirty="0"/>
              <a:t>Most popular titles by total viewership</a:t>
            </a:r>
          </a:p>
          <a:p>
            <a:pPr lvl="1"/>
            <a:r>
              <a:rPr lang="en-US" sz="2200" dirty="0"/>
              <a:t>Combined to identify scalable content opportunities</a:t>
            </a:r>
          </a:p>
          <a:p>
            <a:r>
              <a:rPr lang="en-US" sz="2400" dirty="0"/>
              <a:t>Uses three Netflix Datasets:</a:t>
            </a:r>
          </a:p>
          <a:p>
            <a:pPr lvl="1"/>
            <a:r>
              <a:rPr lang="en-US" sz="2200" dirty="0"/>
              <a:t>All Weeks Countries</a:t>
            </a:r>
          </a:p>
          <a:p>
            <a:pPr lvl="1"/>
            <a:r>
              <a:rPr lang="en-US" sz="2200" dirty="0"/>
              <a:t>All Weeks Global </a:t>
            </a:r>
            <a:endParaRPr lang="en-US" dirty="0"/>
          </a:p>
          <a:p>
            <a:pPr lvl="1"/>
            <a:r>
              <a:rPr lang="en-US" sz="2200" dirty="0"/>
              <a:t>Most Popular 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C5DB22C-8CAD-9858-4DF2-85D97AA0D5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2551" y="3713424"/>
            <a:ext cx="3253032" cy="2675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18035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42007">
        <p:fade/>
      </p:transition>
    </mc:Choice>
    <mc:Fallback xmlns="">
      <p:transition spd="med" advTm="42007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75E007-0806-A7FC-131C-28266ABB35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65691C9-0ACD-CB08-2146-384A78176C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578156" y="3607131"/>
            <a:ext cx="4119254" cy="27432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5DEF097-7B08-4679-A568-A9F7EE0702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Approach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CE31455-AA18-C2C0-36E7-69EAFAEF3B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4900" y="1600200"/>
            <a:ext cx="8532883" cy="4572000"/>
          </a:xfrm>
        </p:spPr>
        <p:txBody>
          <a:bodyPr>
            <a:normAutofit/>
          </a:bodyPr>
          <a:lstStyle/>
          <a:p>
            <a:r>
              <a:rPr lang="en-US" altLang="en-US" sz="2400" dirty="0">
                <a:latin typeface="Arial" panose="020B0604020202020204" pitchFamily="34" charset="0"/>
              </a:rPr>
              <a:t>Color: High contrast to highlight key insights</a:t>
            </a:r>
          </a:p>
          <a:p>
            <a:r>
              <a:rPr lang="en-US" altLang="en-US" sz="2400" dirty="0">
                <a:latin typeface="Arial" panose="020B0604020202020204" pitchFamily="34" charset="0"/>
              </a:rPr>
              <a:t>Text: Minimal, focused on key takeaways</a:t>
            </a:r>
          </a:p>
          <a:p>
            <a:r>
              <a:rPr lang="en-US" altLang="en-US" sz="2400" dirty="0">
                <a:latin typeface="Arial" panose="020B0604020202020204" pitchFamily="34" charset="0"/>
              </a:rPr>
              <a:t>Layout: consistent alignment across slides</a:t>
            </a:r>
          </a:p>
          <a:p>
            <a:r>
              <a:rPr lang="en-US" altLang="en-US" sz="2400" dirty="0">
                <a:latin typeface="Arial" panose="020B0604020202020204" pitchFamily="34" charset="0"/>
              </a:rPr>
              <a:t>Spacing: Clean design to reduce cognitive load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2367476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42007">
        <p:fade/>
      </p:transition>
    </mc:Choice>
    <mc:Fallback xmlns="">
      <p:transition spd="med" advTm="42007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Visual 1 – Global Engagement Over Time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FFFFE63-6BBE-66EC-D505-76769B8B5B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4901" y="1600200"/>
            <a:ext cx="4666711" cy="4572000"/>
          </a:xfrm>
        </p:spPr>
        <p:txBody>
          <a:bodyPr>
            <a:normAutofit/>
          </a:bodyPr>
          <a:lstStyle/>
          <a:p>
            <a:r>
              <a:rPr lang="en-US" dirty="0"/>
              <a:t>Engagement trends vary over time across global Top 10</a:t>
            </a:r>
          </a:p>
          <a:p>
            <a:r>
              <a:rPr lang="en-US" dirty="0"/>
              <a:t>Sustained presence indicates stronger audience interest</a:t>
            </a:r>
          </a:p>
          <a:p>
            <a:r>
              <a:rPr lang="en-US" dirty="0"/>
              <a:t>Early data may reflect incomplete reporting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B0D2B46-5084-AEC1-1AD4-0202BA772B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771380" y="1681930"/>
            <a:ext cx="5784124" cy="331592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769210E-B528-FC04-A619-960559275E2F}"/>
              </a:ext>
            </a:extLst>
          </p:cNvPr>
          <p:cNvSpPr txBox="1"/>
          <p:nvPr/>
        </p:nvSpPr>
        <p:spPr>
          <a:xfrm>
            <a:off x="610259" y="6172200"/>
            <a:ext cx="10969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Global engagement trends provide a high-level view of performance over time (Cairo, 2016)</a:t>
            </a:r>
          </a:p>
        </p:txBody>
      </p:sp>
    </p:spTree>
    <p:extLst>
      <p:ext uri="{BB962C8B-B14F-4D97-AF65-F5344CB8AC3E}">
        <p14:creationId xmlns:p14="http://schemas.microsoft.com/office/powerpoint/2010/main" val="37493741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44966">
        <p:fade/>
      </p:transition>
    </mc:Choice>
    <mc:Fallback xmlns="">
      <p:transition spd="med" advTm="44966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E4FEB83-6117-2CBC-5D30-137844DC179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296741" y="1628317"/>
            <a:ext cx="6637757" cy="378266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Visual 2 – Top Title by Longevity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04900" y="1600200"/>
            <a:ext cx="4505328" cy="4572000"/>
          </a:xfrm>
        </p:spPr>
        <p:txBody>
          <a:bodyPr>
            <a:normAutofit/>
          </a:bodyPr>
          <a:lstStyle/>
          <a:p>
            <a:r>
              <a:rPr lang="en-US" dirty="0"/>
              <a:t>Longer Top 10 duration reflects sustained engagement </a:t>
            </a:r>
          </a:p>
          <a:p>
            <a:r>
              <a:rPr lang="en-US" dirty="0"/>
              <a:t>Consistent performers outperform short-term spikes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14B649-058D-FF9E-8B01-94B6A2D7DF96}"/>
              </a:ext>
            </a:extLst>
          </p:cNvPr>
          <p:cNvSpPr txBox="1"/>
          <p:nvPr/>
        </p:nvSpPr>
        <p:spPr>
          <a:xfrm>
            <a:off x="610259" y="6172200"/>
            <a:ext cx="10969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Sustained Top 10 presence reflects long-term audience engagement (</a:t>
            </a:r>
            <a:r>
              <a:rPr lang="en-US" b="1" dirty="0" err="1"/>
              <a:t>Knaflic</a:t>
            </a:r>
            <a:r>
              <a:rPr lang="en-US" b="1" dirty="0"/>
              <a:t>, 2015)</a:t>
            </a:r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37833062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8097">
        <p:fade/>
      </p:transition>
    </mc:Choice>
    <mc:Fallback xmlns="">
      <p:transition spd="med" advTm="28097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95EC51-0F37-1079-AABB-6537618EF5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4E78305-F7CF-4EDB-627F-9108A3F9D9C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242984" y="1600199"/>
            <a:ext cx="6684715" cy="387432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73D779C-6685-DFAD-528E-5D6CE66970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Visual 3 – Country-Level Activity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9DBA01-D987-3F45-0877-80E4D0B4F6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4900" y="1600200"/>
            <a:ext cx="4405251" cy="4572000"/>
          </a:xfrm>
        </p:spPr>
        <p:txBody>
          <a:bodyPr>
            <a:normAutofit/>
          </a:bodyPr>
          <a:lstStyle/>
          <a:p>
            <a:r>
              <a:rPr lang="en-US" dirty="0"/>
              <a:t>Country activity varies, but patterns reflect dataset coverage</a:t>
            </a:r>
          </a:p>
          <a:p>
            <a:r>
              <a:rPr lang="en-US" dirty="0"/>
              <a:t>Similar counts suggest equal observation periods</a:t>
            </a:r>
            <a:endParaRPr dirty="0"/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A7F30C-F1C4-AEC5-3943-9DFBB216268E}"/>
              </a:ext>
            </a:extLst>
          </p:cNvPr>
          <p:cNvSpPr txBox="1"/>
          <p:nvPr/>
        </p:nvSpPr>
        <p:spPr>
          <a:xfrm>
            <a:off x="610259" y="6172200"/>
            <a:ext cx="10969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Country-level activity highlights differences in market engagement</a:t>
            </a:r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33304649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8097">
        <p:fade/>
      </p:transition>
    </mc:Choice>
    <mc:Fallback xmlns="">
      <p:transition spd="med" advTm="28097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12717C-29AC-7A1D-9FFE-8B4386989E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E183DB9-2365-E91D-1E2F-7ADA2A083C9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361993" y="1600199"/>
            <a:ext cx="6570136" cy="380307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7B313A9-C9DC-C5C2-C011-0806D9BAD2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Visual 4 – Titles Across Countries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EABE0A-41B6-6FC9-31D9-B668EF2BC8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4900" y="1600200"/>
            <a:ext cx="4508343" cy="4572000"/>
          </a:xfrm>
        </p:spPr>
        <p:txBody>
          <a:bodyPr/>
          <a:lstStyle/>
          <a:p>
            <a:r>
              <a:rPr lang="en-US" dirty="0"/>
              <a:t>Titles appearing in multiple countries perform more consistently</a:t>
            </a:r>
          </a:p>
          <a:p>
            <a:r>
              <a:rPr lang="en-US" dirty="0"/>
              <a:t>Cross-country reach signals strong global appeal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246696-40E0-02A9-8040-B292BFF2AA5F}"/>
              </a:ext>
            </a:extLst>
          </p:cNvPr>
          <p:cNvSpPr txBox="1"/>
          <p:nvPr/>
        </p:nvSpPr>
        <p:spPr>
          <a:xfrm>
            <a:off x="610259" y="6172200"/>
            <a:ext cx="10969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Titles with cross-country reach consistently outperform others (</a:t>
            </a:r>
            <a:r>
              <a:rPr lang="en-US" b="1" dirty="0" err="1"/>
              <a:t>Knaflic</a:t>
            </a:r>
            <a:r>
              <a:rPr lang="en-US" b="1" dirty="0"/>
              <a:t>, 2015)</a:t>
            </a:r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1730655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8097">
        <p:fade/>
      </p:transition>
    </mc:Choice>
    <mc:Fallback xmlns="">
      <p:transition spd="med" advTm="28097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C66EE4-4372-2B9E-9652-EA14F0E727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B569AA-00F0-BD5D-8875-03D82DFF27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Visual 5 – Category Performance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C3851E-C5CA-BF8E-297B-A8A86BEBB4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4900" y="1600200"/>
            <a:ext cx="4744107" cy="5052848"/>
          </a:xfrm>
        </p:spPr>
        <p:txBody>
          <a:bodyPr>
            <a:normAutofit/>
          </a:bodyPr>
          <a:lstStyle/>
          <a:p>
            <a:r>
              <a:rPr lang="en-US" dirty="0"/>
              <a:t>Films and TV both contribute to engagement</a:t>
            </a:r>
          </a:p>
          <a:p>
            <a:r>
              <a:rPr lang="en-US" dirty="0"/>
              <a:t>Differences in total viewing highlight investment opportunities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26ACABE-D079-441E-F775-1BE1D23CE2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791804" y="1629802"/>
            <a:ext cx="6140397" cy="3494929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3459436-7200-9AC8-39AC-4626491069C7}"/>
              </a:ext>
            </a:extLst>
          </p:cNvPr>
          <p:cNvSpPr txBox="1"/>
          <p:nvPr/>
        </p:nvSpPr>
        <p:spPr>
          <a:xfrm>
            <a:off x="610259" y="6172200"/>
            <a:ext cx="10969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Content format differences can guide future investment decisions (Kuhn &amp; Johnson, 2019)</a:t>
            </a:r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31547911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8097">
        <p:fade/>
      </p:transition>
    </mc:Choice>
    <mc:Fallback xmlns="">
      <p:transition spd="med" advTm="28097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47CDD3-73CC-05CC-1A95-63A4C5FD0E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847C18-773F-5084-E8EA-967780FB7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Visual 6 – Most Popular Titles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637FF1-332C-AE3F-CC31-9B7E0A3883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4900" y="1600200"/>
            <a:ext cx="4991100" cy="4572000"/>
          </a:xfrm>
        </p:spPr>
        <p:txBody>
          <a:bodyPr/>
          <a:lstStyle/>
          <a:p>
            <a:r>
              <a:rPr lang="en-US" dirty="0"/>
              <a:t>High viewership does not always translate to long-term success</a:t>
            </a:r>
          </a:p>
          <a:p>
            <a:r>
              <a:rPr lang="en-US" dirty="0"/>
              <a:t>Short-term popularity differs from sustained performance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CF90D5F-58A4-A154-BDD0-5245CD9308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355772" y="1614659"/>
            <a:ext cx="6576430" cy="377753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CC533E8-112B-A660-5647-7890419D0EF9}"/>
              </a:ext>
            </a:extLst>
          </p:cNvPr>
          <p:cNvSpPr txBox="1"/>
          <p:nvPr/>
        </p:nvSpPr>
        <p:spPr>
          <a:xfrm>
            <a:off x="610259" y="6172200"/>
            <a:ext cx="10969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Peak popularity does not always indicate sustained success</a:t>
            </a:r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33324468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8097">
        <p:fade/>
      </p:transition>
    </mc:Choice>
    <mc:Fallback xmlns="">
      <p:transition spd="med" advTm="28097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DFBFA1-9ACD-80AA-2565-A5CB6173B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3EF79D-2BCE-15E5-8294-5953000B36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Visual 7 – Cross-Market Overlap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067B5E-FFBF-FFB0-1F43-B766431131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4901" y="1600200"/>
            <a:ext cx="4262746" cy="4572000"/>
          </a:xfrm>
        </p:spPr>
        <p:txBody>
          <a:bodyPr>
            <a:normAutofit/>
          </a:bodyPr>
          <a:lstStyle/>
          <a:p>
            <a:r>
              <a:rPr lang="en-US" dirty="0"/>
              <a:t>Titles successful across markets are the strongest performers</a:t>
            </a:r>
          </a:p>
          <a:p>
            <a:r>
              <a:rPr lang="en-US" dirty="0"/>
              <a:t>Cross-market overlap identifies top investment candidates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AAC002D-CDD9-0E70-E4F9-22466C72960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412211" y="1600643"/>
            <a:ext cx="6489146" cy="379075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CA58B1B-5563-2AB3-6731-82941A4DB108}"/>
              </a:ext>
            </a:extLst>
          </p:cNvPr>
          <p:cNvSpPr txBox="1"/>
          <p:nvPr/>
        </p:nvSpPr>
        <p:spPr>
          <a:xfrm>
            <a:off x="610259" y="6172200"/>
            <a:ext cx="10969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Cross-market performance is the strongest indicator of content success (</a:t>
            </a:r>
            <a:r>
              <a:rPr lang="en-US" b="1" dirty="0" err="1"/>
              <a:t>Knaflic</a:t>
            </a:r>
            <a:r>
              <a:rPr lang="en-US" b="1" dirty="0"/>
              <a:t>, 2015)</a:t>
            </a:r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40283762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8097">
        <p:fade/>
      </p:transition>
    </mc:Choice>
    <mc:Fallback xmlns="">
      <p:transition spd="med" advTm="28097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C0CDF-E3E1-91DE-6D03-BFAC79BE77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Findings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4B79C4-4BD6-7A3E-0C12-F00B74BD8B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b="1" dirty="0"/>
              <a:t>Cross-market performance is the strongest predictor of sustained success</a:t>
            </a:r>
          </a:p>
          <a:p>
            <a:r>
              <a:rPr lang="en-US" sz="2400" dirty="0"/>
              <a:t>Sustained Top 10 presence matters</a:t>
            </a:r>
          </a:p>
          <a:p>
            <a:r>
              <a:rPr lang="en-US" sz="2400" dirty="0"/>
              <a:t>Global reach supports growth</a:t>
            </a:r>
          </a:p>
          <a:p>
            <a:r>
              <a:rPr lang="en-US" sz="2400" dirty="0"/>
              <a:t>Short-term popularity is not enough</a:t>
            </a:r>
          </a:p>
          <a:p>
            <a:endParaRPr lang="en-US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4677696-5B28-D982-B544-E752B8560C09}"/>
              </a:ext>
            </a:extLst>
          </p:cNvPr>
          <p:cNvSpPr txBox="1"/>
          <p:nvPr/>
        </p:nvSpPr>
        <p:spPr>
          <a:xfrm>
            <a:off x="166255" y="6172200"/>
            <a:ext cx="118594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Global reach and sustained performance matter more than short-term popularity (Cairo, 2016)</a:t>
            </a:r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21684575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8E9427-DC3C-E341-1F84-6A5FBF4813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B4CC82-1455-B6A1-4088-008E475B3B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988328-98C0-EB5C-5E03-EE5943F4C4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Country comparisons may reflect data coverage</a:t>
            </a:r>
          </a:p>
          <a:p>
            <a:r>
              <a:rPr lang="en-US" sz="2400" dirty="0"/>
              <a:t>Top 10 duration does not capture full engagement</a:t>
            </a:r>
          </a:p>
          <a:p>
            <a:r>
              <a:rPr lang="en-US" sz="2400" dirty="0"/>
              <a:t>Results require contextual interpretation (Cairo, 2016)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1518306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C43617-9CED-572F-C458-7B1DF802A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F0F3AA-68E5-5DE2-2108-A11F0DAC8D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Ethical Considerations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3C9206-3906-7D96-D11C-12369C1582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Data sourced from publicly available Netflix Top 10 datasets </a:t>
            </a:r>
          </a:p>
          <a:p>
            <a:r>
              <a:rPr lang="en-US" sz="2400" dirty="0"/>
              <a:t>No personal or sensitive data used – no privacy concerns</a:t>
            </a:r>
          </a:p>
          <a:p>
            <a:r>
              <a:rPr lang="en-US" sz="2400" dirty="0"/>
              <a:t>Data Cleaned (standardized titles, numeric conversion)</a:t>
            </a:r>
          </a:p>
          <a:p>
            <a:r>
              <a:rPr lang="en-US" sz="2400" dirty="0"/>
              <a:t>Aggregated data may mask regional differences</a:t>
            </a:r>
          </a:p>
          <a:p>
            <a:r>
              <a:rPr lang="en-US" sz="2400" dirty="0"/>
              <a:t>Assumptions made (e.g., weeks in Top 10 = engagement)</a:t>
            </a:r>
          </a:p>
          <a:p>
            <a:r>
              <a:rPr lang="en-US" sz="2400" dirty="0"/>
              <a:t>Visuals designed to avoid misleading conclusions</a:t>
            </a:r>
          </a:p>
        </p:txBody>
      </p:sp>
    </p:spTree>
    <p:extLst>
      <p:ext uri="{BB962C8B-B14F-4D97-AF65-F5344CB8AC3E}">
        <p14:creationId xmlns:p14="http://schemas.microsoft.com/office/powerpoint/2010/main" val="1004197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DF1890-DD8F-0407-A00A-66BA9AD799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01EE15-7378-DE7A-1F3B-DEB75B2636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B679B1-DD23-BEF6-2671-FCD9CECCE7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b="1" dirty="0"/>
              <a:t>Global and sustained performance matter most</a:t>
            </a:r>
          </a:p>
          <a:p>
            <a:r>
              <a:rPr lang="en-US" sz="2400" dirty="0"/>
              <a:t>Focus on cross-market</a:t>
            </a:r>
          </a:p>
          <a:p>
            <a:r>
              <a:rPr lang="en-US" sz="2400" dirty="0"/>
              <a:t>Prioritize scalable titles</a:t>
            </a:r>
          </a:p>
          <a:p>
            <a:r>
              <a:rPr lang="en-US" sz="2400" dirty="0"/>
              <a:t>Use data to guide strategy</a:t>
            </a:r>
          </a:p>
          <a:p>
            <a:r>
              <a:rPr lang="en-US" sz="2400" dirty="0"/>
              <a:t>Future work – incorporate additional engagement metrics (Kuhn &amp; Johnson, 2019)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32462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53560">
        <p:fade/>
      </p:transition>
    </mc:Choice>
    <mc:Fallback xmlns="">
      <p:transition spd="med" advTm="53560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096D2-191A-D1C5-9155-22547E10CD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A7D746-8F94-65ED-BBC6-90B1E4F198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Cairo, A. (2016). </a:t>
            </a:r>
            <a:r>
              <a:rPr lang="en-US" i="1" dirty="0"/>
              <a:t>The truthful art: Data, charts, and maps for communication.</a:t>
            </a:r>
            <a:r>
              <a:rPr lang="en-US" dirty="0"/>
              <a:t> New Riders. </a:t>
            </a:r>
          </a:p>
          <a:p>
            <a:r>
              <a:rPr lang="en-US" dirty="0" err="1"/>
              <a:t>Knaflic</a:t>
            </a:r>
            <a:r>
              <a:rPr lang="en-US" dirty="0"/>
              <a:t>, C. N. (2015). </a:t>
            </a:r>
            <a:r>
              <a:rPr lang="en-US" i="1" dirty="0"/>
              <a:t>Storytelling with data. </a:t>
            </a:r>
            <a:r>
              <a:rPr lang="en-US" dirty="0"/>
              <a:t>Hoboken: John Wiley &amp; Sons.</a:t>
            </a:r>
          </a:p>
          <a:p>
            <a:r>
              <a:rPr lang="en-US" dirty="0"/>
              <a:t>Kuhn, M., &amp; Johnson, K. (2019). Feature engineering and selection: A practical approach for predictive models. CRC Press. </a:t>
            </a:r>
          </a:p>
        </p:txBody>
      </p:sp>
    </p:spTree>
    <p:extLst>
      <p:ext uri="{BB962C8B-B14F-4D97-AF65-F5344CB8AC3E}">
        <p14:creationId xmlns:p14="http://schemas.microsoft.com/office/powerpoint/2010/main" val="34015285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5427">
        <p:fade/>
      </p:transition>
    </mc:Choice>
    <mc:Fallback xmlns="">
      <p:transition spd="med" advTm="5427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Academic Literature 16x9">
  <a:themeElements>
    <a:clrScheme name="Academic Literature">
      <a:dk1>
        <a:srgbClr val="514843"/>
      </a:dk1>
      <a:lt1>
        <a:srgbClr val="FFFFFF"/>
      </a:lt1>
      <a:dk2>
        <a:srgbClr val="000000"/>
      </a:dk2>
      <a:lt2>
        <a:srgbClr val="FFFFF3"/>
      </a:lt2>
      <a:accent1>
        <a:srgbClr val="514843"/>
      </a:accent1>
      <a:accent2>
        <a:srgbClr val="6D7D66"/>
      </a:accent2>
      <a:accent3>
        <a:srgbClr val="525A6A"/>
      </a:accent3>
      <a:accent4>
        <a:srgbClr val="827266"/>
      </a:accent4>
      <a:accent5>
        <a:srgbClr val="AE9A7E"/>
      </a:accent5>
      <a:accent6>
        <a:srgbClr val="A8A39E"/>
      </a:accent6>
      <a:hlink>
        <a:srgbClr val="59704F"/>
      </a:hlink>
      <a:folHlink>
        <a:srgbClr val="A8A39E"/>
      </a:folHlink>
    </a:clrScheme>
    <a:fontScheme name="Plantagenet Cherokee-Euphemia">
      <a:majorFont>
        <a:latin typeface="Plantagenet Cherokee"/>
        <a:ea typeface=""/>
        <a:cs typeface=""/>
      </a:majorFont>
      <a:minorFont>
        <a:latin typeface="Euphemia"/>
        <a:ea typeface=""/>
        <a:cs typeface=""/>
      </a:minorFont>
    </a:fontScheme>
    <a:fmtScheme name="AcademicLiterature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300000"/>
              </a:schemeClr>
            </a:gs>
            <a:gs pos="100000">
              <a:schemeClr val="phClr">
                <a:tint val="68000"/>
                <a:satMod val="300000"/>
              </a:schemeClr>
            </a:gs>
          </a:gsLst>
          <a:path path="rect">
            <a:fillToRect l="50000" t="50000" r="50000" b="50000"/>
          </a:path>
        </a:gradFill>
        <a:gradFill rotWithShape="1">
          <a:gsLst>
            <a:gs pos="0">
              <a:schemeClr val="phClr">
                <a:shade val="100000"/>
                <a:satMod val="137000"/>
              </a:schemeClr>
            </a:gs>
            <a:gs pos="71000">
              <a:schemeClr val="phClr">
                <a:shade val="98000"/>
                <a:satMod val="137000"/>
              </a:schemeClr>
            </a:gs>
            <a:gs pos="100000">
              <a:schemeClr val="phClr">
                <a:shade val="75000"/>
                <a:satMod val="137000"/>
              </a:schemeClr>
            </a:gs>
          </a:gsLst>
          <a:path path="rect">
            <a:fillToRect l="50000" t="50000" r="50000" b="50000"/>
          </a:path>
        </a:gradFill>
      </a:fillStyleLst>
      <a:lnStyleLst>
        <a:ln w="6350" cap="rnd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48000" cap="flat" cmpd="thickThin" algn="ctr">
          <a:solidFill>
            <a:schemeClr val="phClr"/>
          </a:solidFill>
          <a:prstDash val="solid"/>
        </a:ln>
        <a:ln w="48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5000" dist="25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800000"/>
            </a:lightRig>
          </a:scene3d>
          <a:sp3d prstMaterial="matte">
            <a:bevelT h="200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20000" t="20000" r="20000" b="2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5000" t="5000" r="5000" b="5000"/>
          </a:path>
        </a:gradFill>
      </a:bgFillStyleLst>
    </a:fmtScheme>
  </a:themeElements>
  <a:objectDefaults>
    <a:lnDef>
      <a:spPr>
        <a:ln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F03431380.potx" id="{B573BD99-E105-4D2A-964B-B901A176567A}" vid="{B1D363B9-18DE-4874-9E2B-FD69B5C6548D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510</TotalTime>
  <Words>712</Words>
  <Application>Microsoft Office PowerPoint</Application>
  <PresentationFormat>Widescreen</PresentationFormat>
  <Paragraphs>122</Paragraphs>
  <Slides>19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19</vt:i4>
      </vt:variant>
    </vt:vector>
  </HeadingPairs>
  <TitlesOfParts>
    <vt:vector size="27" baseType="lpstr">
      <vt:lpstr>Aptos</vt:lpstr>
      <vt:lpstr>Aptos Display</vt:lpstr>
      <vt:lpstr>Arial</vt:lpstr>
      <vt:lpstr>Euphemia</vt:lpstr>
      <vt:lpstr>Plantagenet Cherokee</vt:lpstr>
      <vt:lpstr>Wingdings</vt:lpstr>
      <vt:lpstr>Office Theme</vt:lpstr>
      <vt:lpstr>Academic Literature 16x9</vt:lpstr>
      <vt:lpstr>PowerPoint Presentation</vt:lpstr>
      <vt:lpstr>Contents</vt:lpstr>
      <vt:lpstr>Introduction</vt:lpstr>
      <vt:lpstr>Define the Story</vt:lpstr>
      <vt:lpstr>Call to Action</vt:lpstr>
      <vt:lpstr>Overview of Data Used</vt:lpstr>
      <vt:lpstr>Design Approach</vt:lpstr>
      <vt:lpstr>Visual 1 – Global Engagement Over Time</vt:lpstr>
      <vt:lpstr>Visual 2 – Top Title by Longevity</vt:lpstr>
      <vt:lpstr>Visual 3 – Country-Level Activity</vt:lpstr>
      <vt:lpstr>Visual 4 – Titles Across Countries</vt:lpstr>
      <vt:lpstr>Visual 5 – Category Performance</vt:lpstr>
      <vt:lpstr>Visual 6 – Most Popular Titles</vt:lpstr>
      <vt:lpstr>Visual 7 – Cross-Market Overlap</vt:lpstr>
      <vt:lpstr>Key Findings</vt:lpstr>
      <vt:lpstr>Limitations</vt:lpstr>
      <vt:lpstr>Ethical Considerations</vt:lpstr>
      <vt:lpstr>Conclusion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Teresa Ferrill</dc:creator>
  <cp:lastModifiedBy>Teresa Ferrill</cp:lastModifiedBy>
  <cp:revision>28</cp:revision>
  <dcterms:created xsi:type="dcterms:W3CDTF">2026-03-23T19:08:01Z</dcterms:created>
  <dcterms:modified xsi:type="dcterms:W3CDTF">2026-09-13T06:28:05Z</dcterms:modified>
</cp:coreProperties>
</file>